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4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6256000" cy="9144000"/>
  <p:notesSz cx="9144000" cy="16256000"/>
  <p:embeddedFontLst>
    <p:embeddedFont>
      <p:font typeface="Quattrocento Sans" charset="-122" pitchFamily="34"/>
      <p:regular r:id="rId31"/>
    </p:embeddedFont>
    <p:embeddedFont>
      <p:font typeface="Unna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2D1B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2028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8.5</c:v>
                </c:pt>
                <c:pt idx="1">
                  <c:v>13.2</c:v>
                </c:pt>
                <c:pt idx="2">
                  <c:v>21</c:v>
                </c:pt>
                <c:pt idx="3">
                  <c:v>34.5</c:v>
                </c:pt>
                <c:pt idx="4">
                  <c:v>72</c:v>
                </c:pt>
                <c:pt idx="5">
                  <c:v>150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(K USD)</c:v>
                </c:pt>
              </c:strCache>
            </c:strRef>
          </c:tx>
          <c:spPr>
            <a:solidFill>
              <a:srgbClr val="2D1B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Human Labor</c:v>
                  </c:pt>
                  <c:pt idx="1">
                    <c:v>Equipment</c:v>
                  </c:pt>
                  <c:pt idx="2">
                    <c:v>Robot Hardware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150</c:v>
                </c:pt>
                <c:pt idx="2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 A</c:v>
                </c:pt>
              </c:strCache>
            </c:strRef>
          </c:tx>
          <c:spPr>
            <a:solidFill>
              <a:srgbClr val="2D1B69"/>
            </a:solidFill>
            <a:ln w="25400" cap="flat">
              <a:solidFill>
                <a:srgbClr val="2D1B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1B69"/>
              </a:solidFill>
              <a:ln w="9525" cap="flat">
                <a:solidFill>
                  <a:srgbClr val="2D1B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0.58</c:v>
                </c:pt>
                <c:pt idx="2">
                  <c:v>0.72</c:v>
                </c:pt>
                <c:pt idx="3">
                  <c:v>0.81</c:v>
                </c:pt>
                <c:pt idx="4">
                  <c:v>0.86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Task B</c:v>
                </c:pt>
              </c:strCache>
            </c:strRef>
          </c:tx>
          <c:spPr>
            <a:solidFill>
              <a:srgbClr val="0D5C5E"/>
            </a:solidFill>
            <a:ln w="25400" cap="flat">
              <a:solidFill>
                <a:srgbClr val="0D5C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5C5E"/>
              </a:solidFill>
              <a:ln w="9525" cap="flat">
                <a:solidFill>
                  <a:srgbClr val="0D5C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0.38</c:v>
                </c:pt>
                <c:pt idx="1">
                  <c:v>0.52</c:v>
                </c:pt>
                <c:pt idx="2">
                  <c:v>0.65</c:v>
                </c:pt>
                <c:pt idx="3">
                  <c:v>0.74</c:v>
                </c:pt>
                <c:pt idx="4">
                  <c:v>0.8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Task C</c:v>
                </c:pt>
              </c:strCache>
            </c:strRef>
          </c:tx>
          <c:spPr>
            <a:solidFill>
              <a:srgbClr val="C8963E"/>
            </a:solidFill>
            <a:ln w="25400" cap="flat">
              <a:solidFill>
                <a:srgbClr val="C896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963E"/>
              </a:solidFill>
              <a:ln w="9525" cap="flat">
                <a:solidFill>
                  <a:srgbClr val="C896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0.35</c:v>
                </c:pt>
                <c:pt idx="1">
                  <c:v>0.48</c:v>
                </c:pt>
                <c:pt idx="2">
                  <c:v>0.61</c:v>
                </c:pt>
                <c:pt idx="3">
                  <c:v>0.7</c:v>
                </c:pt>
                <c:pt idx="4">
                  <c:v>0.76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Rollout Episodes (P)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d1cfc8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Success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Trials (%)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GRPO</c:v>
                  </c:pt>
                  <c:pt idx="1">
                    <c:v>WMPO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d1cfc8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Real Trials Needed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302000"/>
            <a:ext cx="2540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556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Embodied AI &amp; World Models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413000" y="5080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Generative Intelligence to Physical Embodiment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048000" y="60960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 for Trustworthy Cyber-Physical-Social Systems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0" y="6858000"/>
            <a:ext cx="2540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3048000" y="7112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ICBC 2026 Tutorial — QBE Framework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83000" y="762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Song Guo (HKUST) · Zhu Fangqi (HKUST)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Module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905000"/>
            <a:ext cx="4699000" cy="292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59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730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Virtual to Physical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3276600"/>
            <a:ext cx="50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429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 from generative AI to embodied intelligence — bridging understanding and physical action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905000"/>
            <a:ext cx="4699000" cy="292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0" y="2159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2730500"/>
            <a:ext cx="438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Embodied Intelligence Fundamentals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3276600"/>
            <a:ext cx="50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3429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generalization challenges and the world model solution approach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905000"/>
            <a:ext cx="4699000" cy="292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12500" y="2159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12500" y="2730500"/>
            <a:ext cx="438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Models for Robotics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112500" y="3276600"/>
            <a:ext cx="50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11112500" y="3429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IRASim — video-generation-based world models with 500M parameters rivaling 7B models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63900" y="5207000"/>
            <a:ext cx="4699000" cy="292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1400" y="546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81400" y="6032500"/>
            <a:ext cx="4381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Model Policy Optimization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81400" y="6578600"/>
            <a:ext cx="50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3" name="Text 21"/>
          <p:cNvSpPr/>
          <p:nvPr/>
        </p:nvSpPr>
        <p:spPr>
          <a:xfrm>
            <a:off x="3581400" y="6731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WMPO — RL entirely within world models, 10-50x sample efficiency improvement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93100" y="5207000"/>
            <a:ext cx="4699000" cy="292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0600" y="546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10600" y="6032500"/>
            <a:ext cx="406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to Blockchain Infrastructure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10600" y="6578600"/>
            <a:ext cx="50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8" name="Text 26"/>
          <p:cNvSpPr/>
          <p:nvPr/>
        </p:nvSpPr>
        <p:spPr>
          <a:xfrm>
            <a:off x="8610600" y="67310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Trustworthy CPSS — connecting embodied AI data to quantum-secure blockchain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1B69">
                  <a:alpha val="25000"/>
                </a:srgbClr>
              </a:gs>
              <a:gs pos="100000">
                <a:srgbClr val="0F0E1A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2794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937000"/>
            <a:ext cx="1270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191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From Virtual to Physical 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70000" y="508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evolution from generative AI to embodied intelligence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5715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AI is transitioning from virtual domains to physical systems that actively interact with the real world — bridging the gap between understanding and acting.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90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000" y="457200"/>
            <a:ext cx="177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101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84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AI Paradigm Shift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97000"/>
            <a:ext cx="6858000" cy="5588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397000"/>
            <a:ext cx="685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AI: Understands the World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159000"/>
            <a:ext cx="685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and generate text, images, code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 about abstract concepts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 questions and synthesize information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creative content at scale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Passive response — no physical action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constraints — text/images only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Environmental isolation — no real-world sensing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stateful execution — stateless interactions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397000"/>
            <a:ext cx="6858000" cy="5588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1397000"/>
            <a:ext cx="6858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Embodied AI: Changes the World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2159000"/>
            <a:ext cx="6858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Perceive and interact with physical environments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 multi-step tasks with stateful memory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from real-world feedback and adapt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Generalize across diverse physical scenarios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0D5C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agent — takes physical action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Closed-loop perception-action cycles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environmental interaction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 from experience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75600" y="2159000"/>
            <a:ext cx="0" cy="393700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ysDot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62000" y="6477000"/>
            <a:ext cx="1473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6731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Generative AI understands the world but cannot act in it. Embodied AI bridges the critical gap between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transforming intelligence from passive observation to active physical intervention. This paradigm shift requires new foundations in world models, physical reasoning, and robotic control.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1CFC8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90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000" y="457200"/>
            <a:ext cx="177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101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84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Embodied Intelligence: Definition &amp; Three Elements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2000" y="1270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Embodied intelligence is a physical entity-based intelligent system that interacts with environments through perception, reasoning, and action.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5207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032000"/>
            <a:ext cx="4699000" cy="635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1" name="Shape 9"/>
          <p:cNvSpPr/>
          <p:nvPr/>
        </p:nvSpPr>
        <p:spPr>
          <a:xfrm>
            <a:off x="984250" y="2349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2D1B69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3048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556000"/>
            <a:ext cx="4191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ability 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perceive and interact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surroundings.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environment provides: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inputs (vision, touch, sound)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constraints and dynamics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signals for learning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Task contexts and goals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2032000"/>
            <a:ext cx="4699000" cy="5207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8500" y="2032000"/>
            <a:ext cx="4699000" cy="635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4250" y="23495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27000" y="39688"/>
                </a:moveTo>
                <a:cubicBezTo>
                  <a:pt x="127000" y="17760"/>
                  <a:pt x="144760" y="0"/>
                  <a:pt x="166688" y="0"/>
                </a:cubicBezTo>
                <a:cubicBezTo>
                  <a:pt x="188615" y="0"/>
                  <a:pt x="206375" y="17760"/>
                  <a:pt x="206375" y="39688"/>
                </a:cubicBezTo>
                <a:lnTo>
                  <a:pt x="206375" y="186730"/>
                </a:lnTo>
                <a:cubicBezTo>
                  <a:pt x="214809" y="179189"/>
                  <a:pt x="225921" y="174625"/>
                  <a:pt x="238125" y="174625"/>
                </a:cubicBezTo>
                <a:cubicBezTo>
                  <a:pt x="258564" y="174625"/>
                  <a:pt x="276027" y="187523"/>
                  <a:pt x="282773" y="205581"/>
                </a:cubicBezTo>
                <a:cubicBezTo>
                  <a:pt x="291505" y="196354"/>
                  <a:pt x="303808" y="190500"/>
                  <a:pt x="317500" y="190500"/>
                </a:cubicBezTo>
                <a:cubicBezTo>
                  <a:pt x="342602" y="190500"/>
                  <a:pt x="363141" y="209848"/>
                  <a:pt x="365026" y="234454"/>
                </a:cubicBezTo>
                <a:cubicBezTo>
                  <a:pt x="373459" y="226814"/>
                  <a:pt x="384671" y="222250"/>
                  <a:pt x="396875" y="222250"/>
                </a:cubicBezTo>
                <a:cubicBezTo>
                  <a:pt x="423168" y="222250"/>
                  <a:pt x="444500" y="243582"/>
                  <a:pt x="444500" y="269875"/>
                </a:cubicBezTo>
                <a:lnTo>
                  <a:pt x="444500" y="381000"/>
                </a:lnTo>
                <a:cubicBezTo>
                  <a:pt x="444500" y="451148"/>
                  <a:pt x="387648" y="508000"/>
                  <a:pt x="317500" y="508000"/>
                </a:cubicBezTo>
                <a:lnTo>
                  <a:pt x="232866" y="508000"/>
                </a:lnTo>
                <a:cubicBezTo>
                  <a:pt x="227905" y="508000"/>
                  <a:pt x="223044" y="507702"/>
                  <a:pt x="218281" y="507008"/>
                </a:cubicBezTo>
                <a:cubicBezTo>
                  <a:pt x="163413" y="501452"/>
                  <a:pt x="112911" y="473273"/>
                  <a:pt x="79375" y="428625"/>
                </a:cubicBezTo>
                <a:lnTo>
                  <a:pt x="7938" y="333375"/>
                </a:lnTo>
                <a:cubicBezTo>
                  <a:pt x="-5259" y="315813"/>
                  <a:pt x="-1687" y="291009"/>
                  <a:pt x="15875" y="277813"/>
                </a:cubicBezTo>
                <a:cubicBezTo>
                  <a:pt x="33437" y="264616"/>
                  <a:pt x="58241" y="268188"/>
                  <a:pt x="71438" y="285750"/>
                </a:cubicBezTo>
                <a:lnTo>
                  <a:pt x="127000" y="359866"/>
                </a:lnTo>
                <a:lnTo>
                  <a:pt x="127000" y="39688"/>
                </a:lnTo>
                <a:close/>
                <a:moveTo>
                  <a:pt x="238125" y="301625"/>
                </a:moveTo>
                <a:cubicBezTo>
                  <a:pt x="238125" y="292894"/>
                  <a:pt x="230981" y="285750"/>
                  <a:pt x="222250" y="285750"/>
                </a:cubicBezTo>
                <a:cubicBezTo>
                  <a:pt x="213519" y="285750"/>
                  <a:pt x="206375" y="292894"/>
                  <a:pt x="206375" y="301625"/>
                </a:cubicBezTo>
                <a:lnTo>
                  <a:pt x="206375" y="396875"/>
                </a:lnTo>
                <a:cubicBezTo>
                  <a:pt x="206375" y="405606"/>
                  <a:pt x="213519" y="412750"/>
                  <a:pt x="222250" y="412750"/>
                </a:cubicBezTo>
                <a:cubicBezTo>
                  <a:pt x="230981" y="412750"/>
                  <a:pt x="238125" y="405606"/>
                  <a:pt x="238125" y="396875"/>
                </a:cubicBezTo>
                <a:lnTo>
                  <a:pt x="238125" y="301625"/>
                </a:lnTo>
                <a:close/>
                <a:moveTo>
                  <a:pt x="285750" y="285750"/>
                </a:moveTo>
                <a:cubicBezTo>
                  <a:pt x="277019" y="285750"/>
                  <a:pt x="269875" y="292894"/>
                  <a:pt x="269875" y="301625"/>
                </a:cubicBezTo>
                <a:lnTo>
                  <a:pt x="269875" y="396875"/>
                </a:lnTo>
                <a:cubicBezTo>
                  <a:pt x="269875" y="405606"/>
                  <a:pt x="277019" y="412750"/>
                  <a:pt x="285750" y="412750"/>
                </a:cubicBezTo>
                <a:cubicBezTo>
                  <a:pt x="294481" y="412750"/>
                  <a:pt x="301625" y="405606"/>
                  <a:pt x="301625" y="396875"/>
                </a:cubicBezTo>
                <a:lnTo>
                  <a:pt x="301625" y="301625"/>
                </a:lnTo>
                <a:cubicBezTo>
                  <a:pt x="301625" y="292894"/>
                  <a:pt x="294481" y="285750"/>
                  <a:pt x="285750" y="285750"/>
                </a:cubicBezTo>
                <a:close/>
                <a:moveTo>
                  <a:pt x="365125" y="301625"/>
                </a:moveTo>
                <a:cubicBezTo>
                  <a:pt x="365125" y="292894"/>
                  <a:pt x="357981" y="285750"/>
                  <a:pt x="349250" y="285750"/>
                </a:cubicBezTo>
                <a:cubicBezTo>
                  <a:pt x="340519" y="285750"/>
                  <a:pt x="333375" y="292894"/>
                  <a:pt x="333375" y="301625"/>
                </a:cubicBezTo>
                <a:lnTo>
                  <a:pt x="333375" y="396875"/>
                </a:lnTo>
                <a:cubicBezTo>
                  <a:pt x="333375" y="405606"/>
                  <a:pt x="340519" y="412750"/>
                  <a:pt x="349250" y="412750"/>
                </a:cubicBezTo>
                <a:cubicBezTo>
                  <a:pt x="357981" y="412750"/>
                  <a:pt x="365125" y="405606"/>
                  <a:pt x="365125" y="396875"/>
                </a:cubicBezTo>
                <a:lnTo>
                  <a:pt x="365125" y="301625"/>
                </a:ln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17" name="Text 15"/>
          <p:cNvSpPr/>
          <p:nvPr/>
        </p:nvSpPr>
        <p:spPr>
          <a:xfrm>
            <a:off x="6032500" y="3048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D5C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Body / Ontology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3556000"/>
            <a:ext cx="4191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embodiment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enables action in the world.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body provides: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Manipulators (arms, grippers, tools)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 (wheels, legs, flight)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primitives and degrees of freedom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presence and affordances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2032000"/>
            <a:ext cx="4699000" cy="5207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5000" y="2032000"/>
            <a:ext cx="4699000" cy="635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490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0" y="3048000"/>
            <a:ext cx="419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3556000"/>
            <a:ext cx="4191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Learning, reasoning, and decision-making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capabilities.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 enables: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learning from experience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 about physical outcomes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decision-making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Human-like interaction patterns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429500"/>
            <a:ext cx="1473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7620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three elements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inseparable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Intelligence emerges from the coupling of body and environment — not from disembodied computation alone. This is the foundational insight that distinguishes embodied AI from traditional AI approaches.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1CFC8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90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000" y="457200"/>
            <a:ext cx="177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101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84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Embodied AI: Market and Applications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97000"/>
            <a:ext cx="7112000" cy="165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397000"/>
            <a:ext cx="63500" cy="1651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1524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Industrial Manufacturing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1968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Humanoid robots for assembly and welding.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Geely Automobile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deploys them on production lines.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397000"/>
            <a:ext cx="7112000" cy="165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82000" y="1397000"/>
            <a:ext cx="63500" cy="16510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1524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5C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Logistics &amp; Transportation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99500" y="1968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mobile robots for warehousing and delivery.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Hangzhou Asian Games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showcased quadruped robot dogs.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302000"/>
            <a:ext cx="7112000" cy="165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3302000"/>
            <a:ext cx="63500" cy="1651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3429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Service Robotics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9500" y="3873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sorting, cleaning, and customer service.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Shanghai WAIC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demonstrated AI-powered robotic sorting systems.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3302000"/>
            <a:ext cx="7112000" cy="1651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2000" y="3302000"/>
            <a:ext cx="63500" cy="165100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3429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6B5B95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Autonomous Driving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99500" y="3873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embodied driving with world models. Major OEMs integrating embodied AI for L4 autonomy.</a:t>
            </a:r>
            <a:endParaRPr lang="en-US" sz="16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62000" y="5270500"/>
          <a:ext cx="7112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382000" y="5270500"/>
            <a:ext cx="7112000" cy="3048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6" name="Shape 23"/>
          <p:cNvSpPr/>
          <p:nvPr/>
        </p:nvSpPr>
        <p:spPr>
          <a:xfrm>
            <a:off x="8763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9468" y="4048"/>
                </a:moveTo>
                <a:cubicBezTo>
                  <a:pt x="197802" y="-1349"/>
                  <a:pt x="208598" y="-1349"/>
                  <a:pt x="216932" y="4048"/>
                </a:cubicBezTo>
                <a:lnTo>
                  <a:pt x="394732" y="118348"/>
                </a:lnTo>
                <a:cubicBezTo>
                  <a:pt x="404178" y="124460"/>
                  <a:pt x="408543" y="136049"/>
                  <a:pt x="405368" y="146844"/>
                </a:cubicBezTo>
                <a:cubicBezTo>
                  <a:pt x="402193" y="157639"/>
                  <a:pt x="392271" y="165100"/>
                  <a:pt x="381000" y="165100"/>
                </a:cubicBezTo>
                <a:lnTo>
                  <a:pt x="355600" y="165100"/>
                </a:lnTo>
                <a:lnTo>
                  <a:pt x="355600" y="330200"/>
                </a:lnTo>
                <a:lnTo>
                  <a:pt x="396240" y="360680"/>
                </a:lnTo>
                <a:cubicBezTo>
                  <a:pt x="402669" y="365442"/>
                  <a:pt x="406400" y="372983"/>
                  <a:pt x="406400" y="381000"/>
                </a:cubicBezTo>
                <a:cubicBezTo>
                  <a:pt x="406400" y="395049"/>
                  <a:pt x="395049" y="406400"/>
                  <a:pt x="3810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ubicBezTo>
                  <a:pt x="0" y="372983"/>
                  <a:pt x="3731" y="365442"/>
                  <a:pt x="10160" y="360680"/>
                </a:cubicBezTo>
                <a:lnTo>
                  <a:pt x="50800" y="330200"/>
                </a:lnTo>
                <a:lnTo>
                  <a:pt x="50800" y="330200"/>
                </a:lnTo>
                <a:lnTo>
                  <a:pt x="50800" y="165100"/>
                </a:lnTo>
                <a:lnTo>
                  <a:pt x="25400" y="165100"/>
                </a:lnTo>
                <a:cubicBezTo>
                  <a:pt x="14129" y="165100"/>
                  <a:pt x="4207" y="157639"/>
                  <a:pt x="1032" y="146844"/>
                </a:cubicBezTo>
                <a:cubicBezTo>
                  <a:pt x="-2143" y="136049"/>
                  <a:pt x="2223" y="124381"/>
                  <a:pt x="11668" y="118348"/>
                </a:cubicBezTo>
                <a:lnTo>
                  <a:pt x="189468" y="4048"/>
                </a:lnTo>
                <a:close/>
                <a:moveTo>
                  <a:pt x="266700" y="165100"/>
                </a:moveTo>
                <a:lnTo>
                  <a:pt x="266700" y="330200"/>
                </a:lnTo>
                <a:lnTo>
                  <a:pt x="317500" y="330200"/>
                </a:lnTo>
                <a:lnTo>
                  <a:pt x="317500" y="165100"/>
                </a:lnTo>
                <a:lnTo>
                  <a:pt x="266700" y="165100"/>
                </a:lnTo>
                <a:close/>
                <a:moveTo>
                  <a:pt x="177800" y="330200"/>
                </a:moveTo>
                <a:lnTo>
                  <a:pt x="228600" y="330200"/>
                </a:lnTo>
                <a:lnTo>
                  <a:pt x="228600" y="165100"/>
                </a:lnTo>
                <a:lnTo>
                  <a:pt x="177800" y="165100"/>
                </a:lnTo>
                <a:lnTo>
                  <a:pt x="177800" y="330200"/>
                </a:lnTo>
                <a:close/>
                <a:moveTo>
                  <a:pt x="88900" y="165100"/>
                </a:moveTo>
                <a:lnTo>
                  <a:pt x="88900" y="330200"/>
                </a:lnTo>
                <a:lnTo>
                  <a:pt x="139700" y="330200"/>
                </a:lnTo>
                <a:lnTo>
                  <a:pt x="139700" y="165100"/>
                </a:lnTo>
                <a:lnTo>
                  <a:pt x="88900" y="165100"/>
                </a:ln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27" name="Text 24"/>
          <p:cNvSpPr/>
          <p:nvPr/>
        </p:nvSpPr>
        <p:spPr>
          <a:xfrm>
            <a:off x="9334500" y="55245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National Strategic Priority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763000" y="61595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Embodied AI is a core technology for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quality productive forces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national strategies.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drivers: funding programs, standards, industrial clusters, and international collaboration.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1CFC8"/>
          </a:solidFill>
          <a:ln/>
        </p:spPr>
      </p:sp>
      <p:sp>
        <p:nvSpPr>
          <p:cNvPr id="30" name="Text 27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D5C5E">
                  <a:alpha val="25000"/>
                </a:srgbClr>
              </a:gs>
              <a:gs pos="100000">
                <a:srgbClr val="0F0E1A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2794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937000"/>
            <a:ext cx="1270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191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Embodied Intelligence Fundamentals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70000" y="508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and the world model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5715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fundamental challenges facing embodied AI — from data scarcity to physical generalization — and how world models provide a scalable pathway to physical intelligence.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90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000" y="457200"/>
            <a:ext cx="177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101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84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Physical Generalization Challenge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33500"/>
            <a:ext cx="14732000" cy="762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333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Problem: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Embodied AI models suffer from poor physical-world generalization due to scarce, high-cost physical-world datasets.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4130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Data Collection Cost Breakdown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62000" y="2921000"/>
          <a:ext cx="6858000" cy="330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6350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ranges in thousands of USD. A single manipulation dataset can cost $500K–$1M to collect. Each new task or environment requires starting over.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82000" y="24130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Resulting Barriers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82000" y="2984500"/>
            <a:ext cx="7112000" cy="9525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72500" y="2984500"/>
            <a:ext cx="508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0" y="30734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Scarcity: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elite labs can afford large-scale data collection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4127500"/>
            <a:ext cx="7112000" cy="9525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72500" y="4127500"/>
            <a:ext cx="508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0" y="42164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Fragility: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Models fail when deployed to slightly different environments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5270500"/>
            <a:ext cx="7112000" cy="9525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72500" y="5270500"/>
            <a:ext cx="508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144000" y="53594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Safety: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Real-world training risks hardware damage and injury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82000" y="6413500"/>
            <a:ext cx="7112000" cy="9525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2500" y="6413500"/>
            <a:ext cx="508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144000" y="6502400"/>
            <a:ext cx="615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Months of collection for each task and environment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2000" y="7683500"/>
            <a:ext cx="1473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7" name="Text 24"/>
          <p:cNvSpPr/>
          <p:nvPr/>
        </p:nvSpPr>
        <p:spPr>
          <a:xfrm>
            <a:off x="762000" y="7874000"/>
            <a:ext cx="1473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Question: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How can we train embodied agents at scale without prohibitive real-world data costs? The answer lies in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models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learning through imagination.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1CFC8"/>
          </a:solidFill>
          <a:ln/>
        </p:spPr>
      </p:sp>
      <p:sp>
        <p:nvSpPr>
          <p:cNvPr id="29" name="Text 26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90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000" y="457200"/>
            <a:ext cx="177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101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84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World Models: Learning in Imagination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33500"/>
            <a:ext cx="14732000" cy="1016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333500"/>
            <a:ext cx="63500" cy="1016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1397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world model is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representation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approximates the external environment. Just as humans build mental models to predict outcomes, AI agents use world models to simulate physics, dynamics, and consequences of actions.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2794000"/>
            <a:ext cx="2540000" cy="1524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28575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</a:t>
            </a:r>
            <a:endParaRPr lang="en-US" sz="1600" dirty="0"/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Observes current state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02000" y="3429000"/>
            <a:ext cx="76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064000" y="2794000"/>
            <a:ext cx="2540000" cy="15240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91000" y="28575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Model</a:t>
            </a:r>
            <a:endParaRPr lang="en-US" sz="1600" dirty="0"/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Imagines next states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04000" y="3429000"/>
            <a:ext cx="76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366000" y="2794000"/>
            <a:ext cx="2540000" cy="1524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7493000" y="28575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</a:t>
            </a:r>
            <a:endParaRPr lang="en-US" sz="1600" dirty="0"/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 or penalty signal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0" y="3429000"/>
            <a:ext cx="76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668000" y="2794000"/>
            <a:ext cx="2540000" cy="152400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0" y="28575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Update</a:t>
            </a:r>
            <a:endParaRPr lang="en-US" sz="1600" dirty="0"/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agent behavior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18000" y="4445000"/>
            <a:ext cx="558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All within simulation — zero real-world interaction cost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080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Advantages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25" name="Text 23"/>
          <p:cNvSpPr/>
          <p:nvPr/>
        </p:nvSpPr>
        <p:spPr>
          <a:xfrm>
            <a:off x="1270000" y="56515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risk of physical damage during training. Agents can explore freely without consequence.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73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27" name="Text 25"/>
          <p:cNvSpPr/>
          <p:nvPr/>
        </p:nvSpPr>
        <p:spPr>
          <a:xfrm>
            <a:off x="1270000" y="66675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Parallelize millions of simulated trajectories. Unlimited training data on demand.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66675"/>
                </a:moveTo>
                <a:lnTo>
                  <a:pt x="88900" y="55563"/>
                </a:lnTo>
                <a:cubicBezTo>
                  <a:pt x="88900" y="24864"/>
                  <a:pt x="148630" y="0"/>
                  <a:pt x="222250" y="0"/>
                </a:cubicBezTo>
                <a:cubicBezTo>
                  <a:pt x="295870" y="0"/>
                  <a:pt x="355600" y="24864"/>
                  <a:pt x="355600" y="55563"/>
                </a:cubicBezTo>
                <a:lnTo>
                  <a:pt x="355600" y="66675"/>
                </a:lnTo>
                <a:cubicBezTo>
                  <a:pt x="355600" y="87928"/>
                  <a:pt x="326916" y="106402"/>
                  <a:pt x="284758" y="115778"/>
                </a:cubicBezTo>
                <a:cubicBezTo>
                  <a:pt x="283091" y="113834"/>
                  <a:pt x="281355" y="111958"/>
                  <a:pt x="279618" y="110222"/>
                </a:cubicBezTo>
                <a:cubicBezTo>
                  <a:pt x="268853" y="99596"/>
                  <a:pt x="254962" y="91539"/>
                  <a:pt x="240447" y="85566"/>
                </a:cubicBezTo>
                <a:cubicBezTo>
                  <a:pt x="211346" y="73412"/>
                  <a:pt x="173424" y="66744"/>
                  <a:pt x="133350" y="66744"/>
                </a:cubicBezTo>
                <a:cubicBezTo>
                  <a:pt x="118140" y="66744"/>
                  <a:pt x="103277" y="67717"/>
                  <a:pt x="89039" y="69592"/>
                </a:cubicBezTo>
                <a:cubicBezTo>
                  <a:pt x="88900" y="68689"/>
                  <a:pt x="88900" y="67717"/>
                  <a:pt x="88900" y="66744"/>
                </a:cubicBezTo>
                <a:close/>
                <a:moveTo>
                  <a:pt x="300038" y="245170"/>
                </a:moveTo>
                <a:lnTo>
                  <a:pt x="300038" y="213082"/>
                </a:lnTo>
                <a:cubicBezTo>
                  <a:pt x="310525" y="210374"/>
                  <a:pt x="320387" y="207179"/>
                  <a:pt x="329347" y="203428"/>
                </a:cubicBezTo>
                <a:cubicBezTo>
                  <a:pt x="338515" y="199608"/>
                  <a:pt x="347474" y="194955"/>
                  <a:pt x="355600" y="189329"/>
                </a:cubicBezTo>
                <a:lnTo>
                  <a:pt x="355600" y="200025"/>
                </a:lnTo>
                <a:cubicBezTo>
                  <a:pt x="355600" y="218638"/>
                  <a:pt x="333722" y="235099"/>
                  <a:pt x="300038" y="245170"/>
                </a:cubicBezTo>
                <a:close/>
                <a:moveTo>
                  <a:pt x="300038" y="178495"/>
                </a:moveTo>
                <a:lnTo>
                  <a:pt x="300038" y="155575"/>
                </a:lnTo>
                <a:cubicBezTo>
                  <a:pt x="300038" y="152450"/>
                  <a:pt x="299760" y="149463"/>
                  <a:pt x="299343" y="146546"/>
                </a:cubicBezTo>
                <a:cubicBezTo>
                  <a:pt x="310108" y="143837"/>
                  <a:pt x="320179" y="140573"/>
                  <a:pt x="329347" y="136684"/>
                </a:cubicBezTo>
                <a:cubicBezTo>
                  <a:pt x="338515" y="132794"/>
                  <a:pt x="347474" y="128210"/>
                  <a:pt x="355600" y="122585"/>
                </a:cubicBezTo>
                <a:lnTo>
                  <a:pt x="355600" y="133281"/>
                </a:lnTo>
                <a:cubicBezTo>
                  <a:pt x="355600" y="151894"/>
                  <a:pt x="333722" y="168354"/>
                  <a:pt x="300038" y="178425"/>
                </a:cubicBezTo>
                <a:close/>
                <a:moveTo>
                  <a:pt x="0" y="166688"/>
                </a:moveTo>
                <a:lnTo>
                  <a:pt x="0" y="155575"/>
                </a:lnTo>
                <a:cubicBezTo>
                  <a:pt x="0" y="124877"/>
                  <a:pt x="59730" y="100013"/>
                  <a:pt x="133350" y="100013"/>
                </a:cubicBezTo>
                <a:cubicBezTo>
                  <a:pt x="206970" y="100013"/>
                  <a:pt x="266700" y="124877"/>
                  <a:pt x="266700" y="155575"/>
                </a:cubicBezTo>
                <a:lnTo>
                  <a:pt x="266700" y="166688"/>
                </a:lnTo>
                <a:cubicBezTo>
                  <a:pt x="266700" y="197386"/>
                  <a:pt x="206970" y="222250"/>
                  <a:pt x="133350" y="222250"/>
                </a:cubicBezTo>
                <a:cubicBezTo>
                  <a:pt x="59730" y="222250"/>
                  <a:pt x="0" y="197386"/>
                  <a:pt x="0" y="166688"/>
                </a:cubicBezTo>
                <a:close/>
                <a:moveTo>
                  <a:pt x="266700" y="233363"/>
                </a:moveTo>
                <a:cubicBezTo>
                  <a:pt x="266700" y="264061"/>
                  <a:pt x="206970" y="288925"/>
                  <a:pt x="133350" y="288925"/>
                </a:cubicBezTo>
                <a:cubicBezTo>
                  <a:pt x="59730" y="288925"/>
                  <a:pt x="0" y="264061"/>
                  <a:pt x="0" y="233363"/>
                </a:cubicBezTo>
                <a:lnTo>
                  <a:pt x="0" y="222667"/>
                </a:lnTo>
                <a:cubicBezTo>
                  <a:pt x="8057" y="228292"/>
                  <a:pt x="17016" y="232876"/>
                  <a:pt x="26253" y="236766"/>
                </a:cubicBezTo>
                <a:cubicBezTo>
                  <a:pt x="55354" y="248920"/>
                  <a:pt x="93276" y="255588"/>
                  <a:pt x="133350" y="255588"/>
                </a:cubicBezTo>
                <a:cubicBezTo>
                  <a:pt x="173424" y="255588"/>
                  <a:pt x="211346" y="248851"/>
                  <a:pt x="240447" y="236766"/>
                </a:cubicBezTo>
                <a:cubicBezTo>
                  <a:pt x="249615" y="232946"/>
                  <a:pt x="258574" y="228292"/>
                  <a:pt x="266700" y="222667"/>
                </a:cubicBezTo>
                <a:lnTo>
                  <a:pt x="266700" y="233363"/>
                </a:lnTo>
                <a:close/>
                <a:moveTo>
                  <a:pt x="266700" y="289342"/>
                </a:moveTo>
                <a:lnTo>
                  <a:pt x="266700" y="300038"/>
                </a:lnTo>
                <a:cubicBezTo>
                  <a:pt x="266700" y="330736"/>
                  <a:pt x="206970" y="355600"/>
                  <a:pt x="133350" y="355600"/>
                </a:cubicBezTo>
                <a:cubicBezTo>
                  <a:pt x="59730" y="355600"/>
                  <a:pt x="0" y="330736"/>
                  <a:pt x="0" y="300038"/>
                </a:cubicBezTo>
                <a:lnTo>
                  <a:pt x="0" y="289342"/>
                </a:lnTo>
                <a:cubicBezTo>
                  <a:pt x="8057" y="294967"/>
                  <a:pt x="17016" y="299551"/>
                  <a:pt x="26253" y="303441"/>
                </a:cubicBezTo>
                <a:cubicBezTo>
                  <a:pt x="55354" y="315595"/>
                  <a:pt x="93276" y="322263"/>
                  <a:pt x="133350" y="322263"/>
                </a:cubicBezTo>
                <a:cubicBezTo>
                  <a:pt x="173424" y="322263"/>
                  <a:pt x="211346" y="315526"/>
                  <a:pt x="240447" y="303441"/>
                </a:cubicBezTo>
                <a:cubicBezTo>
                  <a:pt x="249615" y="299621"/>
                  <a:pt x="258574" y="294967"/>
                  <a:pt x="266700" y="289342"/>
                </a:cubicBez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29" name="Text 27"/>
          <p:cNvSpPr/>
          <p:nvPr/>
        </p:nvSpPr>
        <p:spPr>
          <a:xfrm>
            <a:off x="8890000" y="56515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Cost-efficient: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Eliminates hardware wear and human supervision. Fraction of real-world cost.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2000" y="673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4556" y="166757"/>
                </a:moveTo>
                <a:cubicBezTo>
                  <a:pt x="322332" y="165924"/>
                  <a:pt x="311706" y="175091"/>
                  <a:pt x="310803" y="187385"/>
                </a:cubicBezTo>
                <a:cubicBezTo>
                  <a:pt x="308511" y="220028"/>
                  <a:pt x="294412" y="249476"/>
                  <a:pt x="272742" y="271423"/>
                </a:cubicBezTo>
                <a:lnTo>
                  <a:pt x="250726" y="249337"/>
                </a:lnTo>
                <a:cubicBezTo>
                  <a:pt x="245934" y="244544"/>
                  <a:pt x="238780" y="243155"/>
                  <a:pt x="232529" y="245725"/>
                </a:cubicBezTo>
                <a:cubicBezTo>
                  <a:pt x="226278" y="248295"/>
                  <a:pt x="222250" y="254407"/>
                  <a:pt x="222250" y="261144"/>
                </a:cubicBezTo>
                <a:lnTo>
                  <a:pt x="222250" y="338931"/>
                </a:lnTo>
                <a:cubicBezTo>
                  <a:pt x="222250" y="348169"/>
                  <a:pt x="229681" y="355600"/>
                  <a:pt x="238919" y="355600"/>
                </a:cubicBezTo>
                <a:lnTo>
                  <a:pt x="316706" y="355600"/>
                </a:lnTo>
                <a:cubicBezTo>
                  <a:pt x="323443" y="355600"/>
                  <a:pt x="329555" y="351572"/>
                  <a:pt x="332125" y="345321"/>
                </a:cubicBezTo>
                <a:cubicBezTo>
                  <a:pt x="334695" y="339070"/>
                  <a:pt x="333306" y="331916"/>
                  <a:pt x="328513" y="327124"/>
                </a:cubicBezTo>
                <a:lnTo>
                  <a:pt x="304205" y="302816"/>
                </a:lnTo>
                <a:cubicBezTo>
                  <a:pt x="333167" y="273506"/>
                  <a:pt x="352058" y="234196"/>
                  <a:pt x="355183" y="190440"/>
                </a:cubicBezTo>
                <a:cubicBezTo>
                  <a:pt x="356017" y="178217"/>
                  <a:pt x="346849" y="167590"/>
                  <a:pt x="334556" y="166688"/>
                </a:cubicBezTo>
                <a:close/>
                <a:moveTo>
                  <a:pt x="27087" y="28476"/>
                </a:moveTo>
                <a:lnTo>
                  <a:pt x="51395" y="52784"/>
                </a:lnTo>
                <a:cubicBezTo>
                  <a:pt x="22433" y="82094"/>
                  <a:pt x="3542" y="121404"/>
                  <a:pt x="417" y="165160"/>
                </a:cubicBezTo>
                <a:cubicBezTo>
                  <a:pt x="-417" y="177383"/>
                  <a:pt x="8751" y="188010"/>
                  <a:pt x="21044" y="188913"/>
                </a:cubicBezTo>
                <a:cubicBezTo>
                  <a:pt x="33337" y="189815"/>
                  <a:pt x="43894" y="180578"/>
                  <a:pt x="44797" y="168285"/>
                </a:cubicBezTo>
                <a:cubicBezTo>
                  <a:pt x="47089" y="135642"/>
                  <a:pt x="61188" y="106194"/>
                  <a:pt x="82858" y="84247"/>
                </a:cubicBezTo>
                <a:lnTo>
                  <a:pt x="104874" y="106263"/>
                </a:lnTo>
                <a:cubicBezTo>
                  <a:pt x="109666" y="111056"/>
                  <a:pt x="116820" y="112445"/>
                  <a:pt x="123071" y="109875"/>
                </a:cubicBezTo>
                <a:cubicBezTo>
                  <a:pt x="129322" y="107305"/>
                  <a:pt x="133350" y="101193"/>
                  <a:pt x="133350" y="94456"/>
                </a:cubicBezTo>
                <a:lnTo>
                  <a:pt x="133350" y="16669"/>
                </a:lnTo>
                <a:cubicBezTo>
                  <a:pt x="133350" y="7431"/>
                  <a:pt x="125919" y="0"/>
                  <a:pt x="116681" y="0"/>
                </a:cubicBezTo>
                <a:lnTo>
                  <a:pt x="38894" y="0"/>
                </a:lnTo>
                <a:cubicBezTo>
                  <a:pt x="32157" y="0"/>
                  <a:pt x="26045" y="4028"/>
                  <a:pt x="23475" y="10279"/>
                </a:cubicBezTo>
                <a:cubicBezTo>
                  <a:pt x="20905" y="16530"/>
                  <a:pt x="22364" y="23684"/>
                  <a:pt x="27087" y="28476"/>
                </a:cubicBezTo>
                <a:close/>
                <a:moveTo>
                  <a:pt x="166688" y="21044"/>
                </a:moveTo>
                <a:cubicBezTo>
                  <a:pt x="165854" y="33268"/>
                  <a:pt x="175022" y="43894"/>
                  <a:pt x="187315" y="44797"/>
                </a:cubicBezTo>
                <a:cubicBezTo>
                  <a:pt x="219958" y="47089"/>
                  <a:pt x="249406" y="61188"/>
                  <a:pt x="271353" y="82858"/>
                </a:cubicBezTo>
                <a:lnTo>
                  <a:pt x="249337" y="104874"/>
                </a:lnTo>
                <a:cubicBezTo>
                  <a:pt x="244544" y="109666"/>
                  <a:pt x="243155" y="116820"/>
                  <a:pt x="245725" y="123071"/>
                </a:cubicBezTo>
                <a:cubicBezTo>
                  <a:pt x="248295" y="129322"/>
                  <a:pt x="254407" y="133350"/>
                  <a:pt x="261144" y="133350"/>
                </a:cubicBez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38894"/>
                </a:lnTo>
                <a:cubicBezTo>
                  <a:pt x="355600" y="32157"/>
                  <a:pt x="351572" y="26045"/>
                  <a:pt x="345321" y="23475"/>
                </a:cubicBezTo>
                <a:cubicBezTo>
                  <a:pt x="339070" y="20905"/>
                  <a:pt x="331916" y="22364"/>
                  <a:pt x="327124" y="27087"/>
                </a:cubicBezTo>
                <a:lnTo>
                  <a:pt x="302816" y="51395"/>
                </a:lnTo>
                <a:cubicBezTo>
                  <a:pt x="273506" y="22433"/>
                  <a:pt x="234196" y="3542"/>
                  <a:pt x="190440" y="417"/>
                </a:cubicBezTo>
                <a:cubicBezTo>
                  <a:pt x="178217" y="-417"/>
                  <a:pt x="167590" y="8751"/>
                  <a:pt x="166688" y="21044"/>
                </a:cubicBezTo>
                <a:close/>
                <a:moveTo>
                  <a:pt x="28476" y="328513"/>
                </a:moveTo>
                <a:lnTo>
                  <a:pt x="52784" y="304205"/>
                </a:lnTo>
                <a:cubicBezTo>
                  <a:pt x="82094" y="333167"/>
                  <a:pt x="121404" y="352058"/>
                  <a:pt x="165160" y="355183"/>
                </a:cubicBezTo>
                <a:cubicBezTo>
                  <a:pt x="177383" y="356017"/>
                  <a:pt x="188010" y="346849"/>
                  <a:pt x="188913" y="334556"/>
                </a:cubicBezTo>
                <a:cubicBezTo>
                  <a:pt x="189815" y="322263"/>
                  <a:pt x="180578" y="311706"/>
                  <a:pt x="168285" y="310803"/>
                </a:cubicBezTo>
                <a:cubicBezTo>
                  <a:pt x="135642" y="308511"/>
                  <a:pt x="106194" y="294412"/>
                  <a:pt x="84247" y="272742"/>
                </a:cubicBezTo>
                <a:lnTo>
                  <a:pt x="106263" y="250726"/>
                </a:lnTo>
                <a:cubicBezTo>
                  <a:pt x="111056" y="245934"/>
                  <a:pt x="112445" y="238780"/>
                  <a:pt x="109875" y="232529"/>
                </a:cubicBezTo>
                <a:cubicBezTo>
                  <a:pt x="107305" y="226278"/>
                  <a:pt x="101193" y="222250"/>
                  <a:pt x="94456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16706"/>
                </a:lnTo>
                <a:cubicBezTo>
                  <a:pt x="0" y="323443"/>
                  <a:pt x="4028" y="329555"/>
                  <a:pt x="10279" y="332125"/>
                </a:cubicBezTo>
                <a:cubicBezTo>
                  <a:pt x="16530" y="334695"/>
                  <a:pt x="23684" y="333236"/>
                  <a:pt x="28476" y="328513"/>
                </a:cubicBez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31" name="Text 29"/>
          <p:cNvSpPr/>
          <p:nvPr/>
        </p:nvSpPr>
        <p:spPr>
          <a:xfrm>
            <a:off x="8890000" y="66675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Generalizable: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Train on diverse simulated scenarios for robust real-world transfer.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7874000"/>
            <a:ext cx="1473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064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Insight: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 models accelerate physical intelligence by enabling agents to learn from </a:t>
            </a:r>
            <a:pPr>
              <a:lnSpc>
                <a:spcPct val="140000"/>
              </a:lnSpc>
            </a:pPr>
            <a:r>
              <a:rPr lang="en-US" sz="1800" i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imagined experience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just real data.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1CFC8"/>
          </a:solidFill>
          <a:ln/>
        </p:spPr>
      </p:sp>
      <p:sp>
        <p:nvSpPr>
          <p:cNvPr id="35" name="Text 33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90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000" y="457200"/>
            <a:ext cx="177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101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84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Three Use Cases of World Models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97000"/>
            <a:ext cx="4699000" cy="5080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397000"/>
            <a:ext cx="4699000" cy="635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Model-Based Planning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26670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world model generates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imagined rollouts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possible futures.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policy evaluates each rollout and selects the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action sequence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D5C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→ Imagine outcomes → Score → Select optimal 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1397000"/>
            <a:ext cx="4699000" cy="5080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8500" y="1397000"/>
            <a:ext cx="4699000" cy="635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D5C5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5C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Evaluation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26670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terminal models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 functions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assess policy success.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whether the policy achieves goals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real-world deployment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D5C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→ Simulate rollout → Value estimate → Pass/Fail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1397000"/>
            <a:ext cx="4699000" cy="5080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95000" y="1397000"/>
            <a:ext cx="4699000" cy="635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0" name="Text 18"/>
          <p:cNvSpPr/>
          <p:nvPr/>
        </p:nvSpPr>
        <p:spPr>
          <a:xfrm>
            <a:off x="11049000" y="165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2159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2667000"/>
            <a:ext cx="4191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Backpropagate gradients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the world model to optimize the policy directly.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end-to-end learning entirely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 imagination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→ World model → Reward → Gradient → Policy update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794500"/>
            <a:ext cx="1473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704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Unified Framework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493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three use cases form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continuum of world model utilization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Planning uses the world model as a simulator; evaluation uses it as a critic; RL uses it as a differentiable training environment. Together, they enable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sample-efficient embodied intelligence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scale.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1CFC8"/>
          </a:solidFill>
          <a:ln/>
        </p:spPr>
      </p:sp>
      <p:sp>
        <p:nvSpPr>
          <p:cNvPr id="27" name="Text 25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C8963E">
                  <a:alpha val="13000"/>
                </a:srgbClr>
              </a:gs>
              <a:gs pos="100000">
                <a:srgbClr val="0F0E1A">
                  <a:alpha val="0"/>
                </a:srgbClr>
              </a:gs>
            </a:gsLst>
            <a:path path="circle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2794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70000" y="3937000"/>
            <a:ext cx="1270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4191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IRASim: World Model for Robot Manipulation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70000" y="5080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fine-grained video prediction model for robotics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70000" y="5715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deep dive into IRASim — the first video-generation-based world model for robot manipulation, achieving 7B-model performance with only 500M parameters (ICCV 2025).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90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000" y="457200"/>
            <a:ext cx="1778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101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84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IRASim: Overview and Significance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33500"/>
            <a:ext cx="14732000" cy="8255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3335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IRASim (ICCV 2025)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first video-generation-based world model for robot manipulation.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500M parameters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achieving performance comparable to industry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7B models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349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Zhu et al., ICCV 2025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857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What Makes IRASim Different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2950" y="3492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57150" y="38100"/>
                </a:moveTo>
                <a:cubicBezTo>
                  <a:pt x="36135" y="38100"/>
                  <a:pt x="19050" y="55185"/>
                  <a:pt x="19050" y="76200"/>
                </a:cubicBezTo>
                <a:lnTo>
                  <a:pt x="19050" y="228600"/>
                </a:lnTo>
                <a:cubicBezTo>
                  <a:pt x="19050" y="249615"/>
                  <a:pt x="36135" y="266700"/>
                  <a:pt x="57150" y="266700"/>
                </a:cubicBezTo>
                <a:lnTo>
                  <a:pt x="209550" y="266700"/>
                </a:lnTo>
                <a:cubicBezTo>
                  <a:pt x="230565" y="266700"/>
                  <a:pt x="247650" y="249615"/>
                  <a:pt x="247650" y="228600"/>
                </a:cubicBezTo>
                <a:lnTo>
                  <a:pt x="247650" y="76200"/>
                </a:lnTo>
                <a:cubicBezTo>
                  <a:pt x="247650" y="55185"/>
                  <a:pt x="230565" y="38100"/>
                  <a:pt x="209550" y="38100"/>
                </a:cubicBezTo>
                <a:lnTo>
                  <a:pt x="57150" y="38100"/>
                </a:lnTo>
                <a:close/>
                <a:moveTo>
                  <a:pt x="276225" y="200025"/>
                </a:moveTo>
                <a:lnTo>
                  <a:pt x="319980" y="235029"/>
                </a:lnTo>
                <a:cubicBezTo>
                  <a:pt x="322481" y="237053"/>
                  <a:pt x="325576" y="238125"/>
                  <a:pt x="328791" y="238125"/>
                </a:cubicBezTo>
                <a:cubicBezTo>
                  <a:pt x="336590" y="238125"/>
                  <a:pt x="342900" y="231815"/>
                  <a:pt x="342900" y="224016"/>
                </a:cubicBezTo>
                <a:lnTo>
                  <a:pt x="342900" y="80784"/>
                </a:lnTo>
                <a:cubicBezTo>
                  <a:pt x="342900" y="72985"/>
                  <a:pt x="336590" y="66675"/>
                  <a:pt x="328791" y="66675"/>
                </a:cubicBezTo>
                <a:cubicBezTo>
                  <a:pt x="325576" y="66675"/>
                  <a:pt x="322481" y="67747"/>
                  <a:pt x="319980" y="69771"/>
                </a:cubicBezTo>
                <a:lnTo>
                  <a:pt x="276225" y="104775"/>
                </a:lnTo>
                <a:lnTo>
                  <a:pt x="276225" y="200025"/>
                </a:ln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342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Video-to-video generation: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Predicts the next frame conditioned on current frame and action — not text-to-video.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2950" y="4381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-9525"/>
                </a:moveTo>
                <a:cubicBezTo>
                  <a:pt x="181987" y="-9525"/>
                  <a:pt x="190500" y="-1012"/>
                  <a:pt x="190500" y="9525"/>
                </a:cubicBezTo>
                <a:lnTo>
                  <a:pt x="190500" y="20419"/>
                </a:lnTo>
                <a:cubicBezTo>
                  <a:pt x="248900" y="28754"/>
                  <a:pt x="295096" y="74950"/>
                  <a:pt x="303431" y="133350"/>
                </a:cubicBezTo>
                <a:lnTo>
                  <a:pt x="314325" y="133350"/>
                </a:lnTo>
                <a:cubicBezTo>
                  <a:pt x="324862" y="133350"/>
                  <a:pt x="333375" y="141863"/>
                  <a:pt x="333375" y="152400"/>
                </a:cubicBezTo>
                <a:cubicBezTo>
                  <a:pt x="333375" y="162937"/>
                  <a:pt x="324862" y="171450"/>
                  <a:pt x="314325" y="171450"/>
                </a:cubicBezTo>
                <a:lnTo>
                  <a:pt x="303431" y="171450"/>
                </a:lnTo>
                <a:cubicBezTo>
                  <a:pt x="295096" y="229850"/>
                  <a:pt x="248900" y="276046"/>
                  <a:pt x="190500" y="284381"/>
                </a:cubicBezTo>
                <a:lnTo>
                  <a:pt x="190500" y="295275"/>
                </a:lnTo>
                <a:cubicBezTo>
                  <a:pt x="190500" y="305812"/>
                  <a:pt x="181987" y="314325"/>
                  <a:pt x="171450" y="314325"/>
                </a:cubicBezTo>
                <a:cubicBezTo>
                  <a:pt x="160913" y="314325"/>
                  <a:pt x="152400" y="305812"/>
                  <a:pt x="152400" y="295275"/>
                </a:cubicBezTo>
                <a:lnTo>
                  <a:pt x="152400" y="284381"/>
                </a:lnTo>
                <a:cubicBezTo>
                  <a:pt x="94000" y="276046"/>
                  <a:pt x="47804" y="229850"/>
                  <a:pt x="39469" y="171450"/>
                </a:cubicBezTo>
                <a:lnTo>
                  <a:pt x="28575" y="171450"/>
                </a:lnTo>
                <a:cubicBezTo>
                  <a:pt x="18038" y="171450"/>
                  <a:pt x="9525" y="162937"/>
                  <a:pt x="9525" y="152400"/>
                </a:cubicBezTo>
                <a:cubicBezTo>
                  <a:pt x="9525" y="141863"/>
                  <a:pt x="18038" y="133350"/>
                  <a:pt x="28575" y="133350"/>
                </a:cubicBezTo>
                <a:lnTo>
                  <a:pt x="39469" y="133350"/>
                </a:lnTo>
                <a:cubicBezTo>
                  <a:pt x="47804" y="74950"/>
                  <a:pt x="94000" y="28754"/>
                  <a:pt x="152400" y="20419"/>
                </a:cubicBezTo>
                <a:lnTo>
                  <a:pt x="152400" y="9525"/>
                </a:lnTo>
                <a:cubicBezTo>
                  <a:pt x="152400" y="-1012"/>
                  <a:pt x="160913" y="-9525"/>
                  <a:pt x="171450" y="-9525"/>
                </a:cubicBezTo>
                <a:close/>
                <a:moveTo>
                  <a:pt x="78105" y="171450"/>
                </a:moveTo>
                <a:cubicBezTo>
                  <a:pt x="85665" y="208776"/>
                  <a:pt x="115074" y="238185"/>
                  <a:pt x="152400" y="245745"/>
                </a:cubicBezTo>
                <a:lnTo>
                  <a:pt x="152400" y="238125"/>
                </a:lnTo>
                <a:cubicBezTo>
                  <a:pt x="152400" y="227588"/>
                  <a:pt x="160913" y="219075"/>
                  <a:pt x="171450" y="219075"/>
                </a:cubicBezTo>
                <a:cubicBezTo>
                  <a:pt x="181987" y="219075"/>
                  <a:pt x="190500" y="227588"/>
                  <a:pt x="190500" y="238125"/>
                </a:cubicBezTo>
                <a:lnTo>
                  <a:pt x="190500" y="245745"/>
                </a:lnTo>
                <a:cubicBezTo>
                  <a:pt x="227826" y="238185"/>
                  <a:pt x="257235" y="208776"/>
                  <a:pt x="264795" y="171450"/>
                </a:cubicBezTo>
                <a:lnTo>
                  <a:pt x="257175" y="171450"/>
                </a:lnTo>
                <a:cubicBezTo>
                  <a:pt x="246638" y="171450"/>
                  <a:pt x="238125" y="162937"/>
                  <a:pt x="238125" y="152400"/>
                </a:cubicBezTo>
                <a:cubicBezTo>
                  <a:pt x="238125" y="141863"/>
                  <a:pt x="246638" y="133350"/>
                  <a:pt x="257175" y="133350"/>
                </a:cubicBezTo>
                <a:lnTo>
                  <a:pt x="264795" y="133350"/>
                </a:lnTo>
                <a:cubicBezTo>
                  <a:pt x="257235" y="96024"/>
                  <a:pt x="227826" y="66615"/>
                  <a:pt x="190500" y="59055"/>
                </a:cubicBezTo>
                <a:lnTo>
                  <a:pt x="190500" y="66675"/>
                </a:lnTo>
                <a:cubicBezTo>
                  <a:pt x="190500" y="77212"/>
                  <a:pt x="181987" y="85725"/>
                  <a:pt x="171450" y="85725"/>
                </a:cubicBezTo>
                <a:cubicBezTo>
                  <a:pt x="160913" y="85725"/>
                  <a:pt x="152400" y="77212"/>
                  <a:pt x="152400" y="66675"/>
                </a:cubicBezTo>
                <a:lnTo>
                  <a:pt x="152400" y="59055"/>
                </a:lnTo>
                <a:cubicBezTo>
                  <a:pt x="115074" y="66615"/>
                  <a:pt x="85665" y="96024"/>
                  <a:pt x="78105" y="133350"/>
                </a:cubicBezTo>
                <a:lnTo>
                  <a:pt x="85725" y="133350"/>
                </a:lnTo>
                <a:cubicBezTo>
                  <a:pt x="96262" y="133350"/>
                  <a:pt x="104775" y="141863"/>
                  <a:pt x="104775" y="152400"/>
                </a:cubicBezTo>
                <a:cubicBezTo>
                  <a:pt x="104775" y="162937"/>
                  <a:pt x="96262" y="171450"/>
                  <a:pt x="85725" y="171450"/>
                </a:cubicBezTo>
                <a:lnTo>
                  <a:pt x="78105" y="171450"/>
                </a:lnTo>
                <a:close/>
                <a:moveTo>
                  <a:pt x="171450" y="123825"/>
                </a:moveTo>
                <a:cubicBezTo>
                  <a:pt x="187221" y="123825"/>
                  <a:pt x="200025" y="136629"/>
                  <a:pt x="200025" y="152400"/>
                </a:cubicBezTo>
                <a:cubicBezTo>
                  <a:pt x="200025" y="168171"/>
                  <a:pt x="187221" y="180975"/>
                  <a:pt x="171450" y="180975"/>
                </a:cubicBezTo>
                <a:cubicBezTo>
                  <a:pt x="155679" y="180975"/>
                  <a:pt x="142875" y="168171"/>
                  <a:pt x="142875" y="152400"/>
                </a:cubicBezTo>
                <a:cubicBezTo>
                  <a:pt x="142875" y="136629"/>
                  <a:pt x="155679" y="123825"/>
                  <a:pt x="171450" y="123825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4318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Action-conditioned: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Takes a 7-dimensional action vector to precisely control robot motion in generated video.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27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5207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Autoregressive long video: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Generates hundreds of frames via noise injection — mitigating error accumulation.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8575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Global Impact &amp; Recognition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3429000"/>
          <a:ext cx="7112000" cy="2794000"/>
        </p:xfrm>
        <a:graphic>
          <a:graphicData uri="http://schemas.openxmlformats.org/drawingml/2006/table">
            <a:tbl>
              <a:tblPr/>
              <a:tblGrid>
                <a:gridCol w="2489200"/>
                <a:gridCol w="2489200"/>
                <a:gridCol w="21336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Institution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NVIDIA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Cosmos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Stanford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Ctrl-World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HKUST (Ours)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IRASim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96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500M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382000" y="6413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top institutions use IRASim as a key baseline.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14x parameter reduction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comparable or superior performance.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6350000"/>
            <a:ext cx="7112000" cy="12065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2000" y="6350000"/>
            <a:ext cx="63500" cy="12065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23" name="Text 20"/>
          <p:cNvSpPr/>
          <p:nvPr/>
        </p:nvSpPr>
        <p:spPr>
          <a:xfrm>
            <a:off x="1079500" y="6413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Publications: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"IRASim: A Fine-Grained World Model for Robot Manipulation" and "IRASim: Learning Interactive Real-Robot Action Simulators" — ICCV 2025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7683500"/>
            <a:ext cx="1473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5" name="Text 22"/>
          <p:cNvSpPr/>
          <p:nvPr/>
        </p:nvSpPr>
        <p:spPr>
          <a:xfrm>
            <a:off x="762000" y="7810500"/>
            <a:ext cx="1473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Significance: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IRASim proves that efficient world model design can match massive models through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fine-grained action conditioning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noise-aware autoregressive generation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new paradigm for parameter-efficient embodied intelligence.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1CFC8"/>
          </a:solidFill>
          <a:ln/>
        </p:spPr>
      </p:sp>
      <p:sp>
        <p:nvSpPr>
          <p:cNvPr id="27" name="Text 24"/>
          <p:cNvSpPr/>
          <p:nvPr/>
        </p:nvSpPr>
        <p:spPr>
          <a:xfrm>
            <a:off x="15240000" y="88265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IRASim: Technical Innovation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270000"/>
            <a:ext cx="7112000" cy="3556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270000"/>
            <a:ext cx="50800" cy="3302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1371600"/>
            <a:ext cx="6654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 1: Physical Interaction Simulation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16000" y="1778000"/>
            <a:ext cx="66548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Simulating complex interactions between robot, objects, and environment requires generating physically plausible interaction videos.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IRASim generates realistic robot manipulation videos where the robot interacts with objects in a physically coherent manner.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28000" y="1270000"/>
            <a:ext cx="7366000" cy="3302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0" y="1270000"/>
            <a:ext cx="50800" cy="3302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1371600"/>
            <a:ext cx="6908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 2: Action-Frame Alignment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82000" y="1778000"/>
            <a:ext cx="69088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Precise alignment between each action and corresponding frame is critical for policy learning.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Given a frame and a 7-dimensional action vector, IRASim predicts the next frame with action-conditioned video generation.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4826000"/>
            <a:ext cx="14732000" cy="1651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0450" y="50292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4978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C896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Innovation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16000" y="5486400"/>
            <a:ext cx="14274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text-to-video models, IRASim operates on a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trajectory-to-video paradigm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it translates robot action trajectories into visual predictions, enabling closed-loop policy evaluation and planning.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2000" y="673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Action-Conditioned Generation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2000" y="7213600"/>
            <a:ext cx="14732000" cy="1143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6000" y="7340600"/>
            <a:ext cx="254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Frame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Observation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683000" y="7772400"/>
            <a:ext cx="76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4572000" y="7340600"/>
            <a:ext cx="254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7-D Action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Robot Command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39000" y="7772400"/>
            <a:ext cx="76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8128000" y="7340600"/>
            <a:ext cx="304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IRASim (500M)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Model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303000" y="7772400"/>
            <a:ext cx="76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12192000" y="7340600"/>
            <a:ext cx="304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Next Frame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Predicted Observation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IRASim: Architecture and Long Video Generation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2000" y="127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Autoregressive Long Video Generation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2000" y="17780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IRASim generates long videos autoregressively: the policy produces action chunks, each fed to IRASim to generate the next video segment.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6858000" cy="3556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35306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Pipeline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70000" y="4064000"/>
            <a:ext cx="2540000" cy="635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0" y="406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Policy Network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0" y="4381500"/>
            <a:ext cx="76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4572000" y="4064000"/>
            <a:ext cx="2667000" cy="6350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4064000"/>
            <a:ext cx="266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Action Chunk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18000" y="4699000"/>
            <a:ext cx="0" cy="50800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048000" y="5207000"/>
            <a:ext cx="2540000" cy="635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9" name="Text 17"/>
          <p:cNvSpPr/>
          <p:nvPr/>
        </p:nvSpPr>
        <p:spPr>
          <a:xfrm>
            <a:off x="3048000" y="5207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IRASim (500M)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048000" y="5842000"/>
            <a:ext cx="0" cy="38100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524000" y="6223000"/>
            <a:ext cx="5588000" cy="635000"/>
          </a:xfrm>
          <a:prstGeom prst="rect">
            <a:avLst/>
          </a:prstGeom>
          <a:solidFill>
            <a:srgbClr val="4A9088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6223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Generated Video Segment (K frames)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874000" y="1270000"/>
            <a:ext cx="7620000" cy="56896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74000" y="1270000"/>
            <a:ext cx="50800" cy="5689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5" name="Text 23"/>
          <p:cNvSpPr/>
          <p:nvPr/>
        </p:nvSpPr>
        <p:spPr>
          <a:xfrm>
            <a:off x="8128000" y="1371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C896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Innovation: Noise Injection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28000" y="18034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Autoregressive methods suffer from error compounding over time. IRASim introduces noise injection in the conditional frame during generation.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128000" y="3200400"/>
            <a:ext cx="711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generation of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hundreds of frames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mitigated error accumulation — addressing the native limitation of autoregressive video generation.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28000" y="44958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Noise Injection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128000" y="48768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Errors compound with each step → video quality degrades rapidly → limited to short sequences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128000" y="5765800"/>
            <a:ext cx="711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Noise Injection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28000" y="61722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Noise regularizes the model → maintains generation quality → scales to 500+ frames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62000" y="7137400"/>
            <a:ext cx="14732000" cy="1397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72644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Autoregressive Loop: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Policy → Action Chunks → IRASim → Video Segment → (next frame becomes conditional input) → Repeat. This closed loop enables continuous long-horizon video generation for robot manipulation planning.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IRASim: Experimental Results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2700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500M parameters match or exceed 7B-parameter baselines</a:t>
            </a:r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(NVIDIA Cosmos, Stanford Ctrl-World, MIT HMA)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311400"/>
            <a:ext cx="4699000" cy="2540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2311400"/>
            <a:ext cx="4699000" cy="508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4892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 Quality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16000" y="28702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Comparable next-frame prediction quality to models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10× more parameters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under the next-frame prediction paradigm.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715000" y="2311400"/>
            <a:ext cx="4699000" cy="2540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2311400"/>
            <a:ext cx="4699000" cy="508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6" name="Text 14"/>
          <p:cNvSpPr/>
          <p:nvPr/>
        </p:nvSpPr>
        <p:spPr>
          <a:xfrm>
            <a:off x="5969000" y="24892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Model-Based Planning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69000" y="2870200"/>
            <a:ext cx="4191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Policy performance scales with rollout episodes (P) and action chunks (K). More imagined rollouts → better real-world performance.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668000" y="2311400"/>
            <a:ext cx="4826000" cy="2540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68000" y="2311400"/>
            <a:ext cx="4826000" cy="50800"/>
          </a:xfrm>
          <a:prstGeom prst="rect">
            <a:avLst/>
          </a:prstGeom>
          <a:solidFill>
            <a:srgbClr val="4A9088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2489200"/>
            <a:ext cx="431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Ablation Studies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22000" y="28702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Validates effectiveness of different action conditioning mechanisms. Frame-level action conditioning is critical for alignment.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2000" y="5105400"/>
            <a:ext cx="14732000" cy="3429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6000" y="5232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Scaling: Policy Performance vs. Rollout Budget</a:t>
            </a:r>
            <a:endParaRPr lang="en-US" sz="2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1016000" y="5613400"/>
          <a:ext cx="14224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70000" y="3429000"/>
            <a:ext cx="1524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270000" y="3683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WMPO: World Model-Based Policy Optimization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Reinforcement learning entirely within a world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520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WMPO — the first framework that performs VLA RL entirely within an action-conditioned video world model, improving sample efficiency by 10-50×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016000" cy="1016000"/>
          </a:xfrm>
          <a:prstGeom prst="rect">
            <a:avLst/>
          </a:prstGeom>
          <a:solidFill>
            <a:srgbClr val="C8963E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224000" y="6604000"/>
            <a:ext cx="508000" cy="508000"/>
          </a:xfrm>
          <a:prstGeom prst="rect">
            <a:avLst/>
          </a:prstGeom>
          <a:solidFill>
            <a:srgbClr val="C8963E">
              <a:alpha val="25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WMPO: Motivation and Overview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2000" y="127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2000" y="1727200"/>
            <a:ext cx="7112000" cy="1143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727200"/>
            <a:ext cx="508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803400"/>
            <a:ext cx="6654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Recent VLA models are trained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imitation learning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 — they cannot learn from failure experiences or self-improve.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3048000"/>
            <a:ext cx="7112000" cy="1143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3048000"/>
            <a:ext cx="50800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124200"/>
            <a:ext cx="6654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RL 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sample-inefficient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difficult to scale — each real robot trial is expensive and time-consuming.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28000" y="1270000"/>
            <a:ext cx="7366000" cy="2921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1371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C896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Solution: WMPO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82000" y="17780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framework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performs VLA RL entirely within an action-conditioned video world model.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Improves sample efficiency by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896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10-50×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compared to GRPO.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Achieves scalable on-policy RL in real robot settings.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2000" y="444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Sample Efficiency Comparison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902200"/>
          <a:ext cx="14732000" cy="1739900"/>
        </p:xfrm>
        <a:graphic>
          <a:graphicData uri="http://schemas.openxmlformats.org/drawingml/2006/table">
            <a:tbl>
              <a:tblPr/>
              <a:tblGrid>
                <a:gridCol w="5156200"/>
                <a:gridCol w="2946400"/>
                <a:gridCol w="2946400"/>
                <a:gridCol w="3683000"/>
              </a:tblGrid>
              <a:tr h="63966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Real Trials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Imagined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F3E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Efficiency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9"/>
                    </a:solidFill>
                  </a:tcPr>
                </a:tc>
              </a:tr>
              <a:tr h="550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 RL (GRPO)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</a:tr>
              <a:tr h="550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WMPO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96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2-10%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96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Unlimited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96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10-50× better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3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62000" y="7442200"/>
            <a:ext cx="14732000" cy="10668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2000" y="7442200"/>
            <a:ext cx="50800" cy="10668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2" name="Text 19"/>
          <p:cNvSpPr/>
          <p:nvPr/>
        </p:nvSpPr>
        <p:spPr>
          <a:xfrm>
            <a:off x="1016000" y="75184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Insight: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coupling a world model (IRASim) with policy optimization (GRPO), WMPO makes RL feasible for real-world robotics — most training happens in imagination, not on physical hardware.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WMPO: Core Challenges and Solutions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270000"/>
            <a:ext cx="14732000" cy="2159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270000"/>
            <a:ext cx="558800" cy="2159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1270000"/>
            <a:ext cx="5588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13462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Challenge: Action-State Distribution Mismatch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24000" y="1701800"/>
            <a:ext cx="660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models trained only on expert trajectories fail when the policy explores suboptimal states.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382000" y="2349500"/>
            <a:ext cx="508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9144000" y="13462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0" y="17018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Policy Behavior Alignment: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Finetune the world model with trajectories rolled out by the VLA policy itself, not just expert data.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2000" y="3632200"/>
            <a:ext cx="14732000" cy="2159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3632200"/>
            <a:ext cx="558800" cy="2159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632200"/>
            <a:ext cx="5588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37084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Challenge: Outcome Reward &amp; Long-Horizon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24000" y="4064000"/>
            <a:ext cx="660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Short-horizon predictions lead to reward hacking — the policy exploits prediction errors rather than learning real skills.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82000" y="4711700"/>
            <a:ext cx="508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9144000" y="3708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0" y="40640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Noise Injection Training: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Inject noise during world model training for robustness, enabling 500+ frame predictions without error accumulation.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62000" y="5994400"/>
            <a:ext cx="14732000" cy="2159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000" y="5994400"/>
            <a:ext cx="558800" cy="2159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5994400"/>
            <a:ext cx="558800" cy="215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" y="6070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Challenge: Precise Action-Frame Alignment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24000" y="6426200"/>
            <a:ext cx="660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action must precisely correspond to its visual outcome for reliable policy gradient estimation.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382000" y="7073900"/>
            <a:ext cx="508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9144000" y="60706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44000" y="6426200"/>
            <a:ext cx="609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Frame-Level Action Condition: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Leverage IRASim's frame-level action conditioning mechanism for precise action-to-frame alignment at every timestep.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WMPO: Algorithm Design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2000" y="1270000"/>
            <a:ext cx="889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WMPO uses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GRPO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optimize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OpenVLA-OFT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within the world model. Works with any RL algorithm and any VLA.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2184400"/>
            <a:ext cx="3429000" cy="2667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2352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Step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27178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 Real Trajectories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" y="31242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the current policy on real robots to collect P trajectories. These form the real-world data budget.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91000" y="3479800"/>
            <a:ext cx="381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572000" y="2184400"/>
            <a:ext cx="3429000" cy="26670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2352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Step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99000" y="27178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Finetune World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9000" y="31242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Finetune IRASim with policy-rollout data for Policy Behavior Alignment.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01000" y="3479800"/>
            <a:ext cx="381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382000" y="2184400"/>
            <a:ext cx="3429000" cy="2667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22352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Step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27178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Imagined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9000" y="31242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unlimited imagined trajectories in the world model. No real robot needed.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11000" y="3479800"/>
            <a:ext cx="381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192000" y="2184400"/>
            <a:ext cx="3302000" cy="2667000"/>
          </a:xfrm>
          <a:prstGeom prst="rect">
            <a:avLst/>
          </a:prstGeom>
          <a:solidFill>
            <a:srgbClr val="4A9088"/>
          </a:solidFill>
          <a:ln/>
        </p:spPr>
      </p:sp>
      <p:sp>
        <p:nvSpPr>
          <p:cNvPr id="25" name="Text 23"/>
          <p:cNvSpPr/>
          <p:nvPr/>
        </p:nvSpPr>
        <p:spPr>
          <a:xfrm>
            <a:off x="12192000" y="2235200"/>
            <a:ext cx="330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Step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19000" y="27178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Policy (GRPO)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19000" y="31242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policy using GRPO on imagined data. Iterate back to Step 1.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495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Properties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62000" y="5410200"/>
            <a:ext cx="4699000" cy="1524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7900" y="5588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152400"/>
                </a:moveTo>
                <a:cubicBezTo>
                  <a:pt x="0" y="99774"/>
                  <a:pt x="42624" y="57150"/>
                  <a:pt x="95250" y="57150"/>
                </a:cubicBezTo>
                <a:cubicBezTo>
                  <a:pt x="125254" y="57150"/>
                  <a:pt x="153472" y="71259"/>
                  <a:pt x="171450" y="95250"/>
                </a:cubicBezTo>
                <a:lnTo>
                  <a:pt x="190500" y="120670"/>
                </a:lnTo>
                <a:lnTo>
                  <a:pt x="209550" y="95250"/>
                </a:lnTo>
                <a:cubicBezTo>
                  <a:pt x="227528" y="71259"/>
                  <a:pt x="255746" y="57150"/>
                  <a:pt x="285750" y="57150"/>
                </a:cubicBezTo>
                <a:cubicBezTo>
                  <a:pt x="338376" y="57150"/>
                  <a:pt x="381000" y="99774"/>
                  <a:pt x="381000" y="152400"/>
                </a:cubicBezTo>
                <a:cubicBezTo>
                  <a:pt x="381000" y="205026"/>
                  <a:pt x="338376" y="247650"/>
                  <a:pt x="285750" y="247650"/>
                </a:cubicBezTo>
                <a:cubicBezTo>
                  <a:pt x="255746" y="247650"/>
                  <a:pt x="227528" y="233541"/>
                  <a:pt x="209550" y="209550"/>
                </a:cubicBezTo>
                <a:lnTo>
                  <a:pt x="190500" y="184130"/>
                </a:lnTo>
                <a:lnTo>
                  <a:pt x="171450" y="209550"/>
                </a:lnTo>
                <a:cubicBezTo>
                  <a:pt x="153472" y="233541"/>
                  <a:pt x="125254" y="247650"/>
                  <a:pt x="95250" y="247650"/>
                </a:cubicBezTo>
                <a:cubicBezTo>
                  <a:pt x="42624" y="247650"/>
                  <a:pt x="0" y="205026"/>
                  <a:pt x="0" y="152400"/>
                </a:cubicBezTo>
                <a:close/>
                <a:moveTo>
                  <a:pt x="166688" y="152400"/>
                </a:moveTo>
                <a:lnTo>
                  <a:pt x="140970" y="118110"/>
                </a:lnTo>
                <a:cubicBezTo>
                  <a:pt x="130195" y="103703"/>
                  <a:pt x="113228" y="95250"/>
                  <a:pt x="95250" y="95250"/>
                </a:cubicBezTo>
                <a:cubicBezTo>
                  <a:pt x="63698" y="95250"/>
                  <a:pt x="38100" y="120848"/>
                  <a:pt x="38100" y="152400"/>
                </a:cubicBezTo>
                <a:cubicBezTo>
                  <a:pt x="38100" y="183952"/>
                  <a:pt x="63698" y="209550"/>
                  <a:pt x="95250" y="209550"/>
                </a:cubicBezTo>
                <a:cubicBezTo>
                  <a:pt x="113228" y="209550"/>
                  <a:pt x="130195" y="201097"/>
                  <a:pt x="140970" y="186690"/>
                </a:cubicBezTo>
                <a:lnTo>
                  <a:pt x="166688" y="152400"/>
                </a:lnTo>
                <a:close/>
                <a:moveTo>
                  <a:pt x="214313" y="152400"/>
                </a:moveTo>
                <a:lnTo>
                  <a:pt x="240030" y="186690"/>
                </a:lnTo>
                <a:cubicBezTo>
                  <a:pt x="250805" y="201097"/>
                  <a:pt x="267772" y="209550"/>
                  <a:pt x="285750" y="209550"/>
                </a:cubicBezTo>
                <a:cubicBezTo>
                  <a:pt x="317302" y="209550"/>
                  <a:pt x="342900" y="183952"/>
                  <a:pt x="342900" y="152400"/>
                </a:cubicBezTo>
                <a:cubicBezTo>
                  <a:pt x="342900" y="120848"/>
                  <a:pt x="317302" y="95250"/>
                  <a:pt x="285750" y="95250"/>
                </a:cubicBezTo>
                <a:cubicBezTo>
                  <a:pt x="267772" y="95250"/>
                  <a:pt x="250805" y="103703"/>
                  <a:pt x="240030" y="118110"/>
                </a:cubicBezTo>
                <a:lnTo>
                  <a:pt x="214313" y="152400"/>
                </a:ln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31" name="Text 29"/>
          <p:cNvSpPr/>
          <p:nvPr/>
        </p:nvSpPr>
        <p:spPr>
          <a:xfrm>
            <a:off x="1447800" y="5562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Unlimited Rollouts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16000" y="5969000"/>
            <a:ext cx="4241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 budget P is limited; imagined rollouts are unlimited in the world model.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715000" y="5410200"/>
            <a:ext cx="4699000" cy="1524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69000" y="558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5562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Any RL + Any VLA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969000" y="5969000"/>
            <a:ext cx="4241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Compatible with any RL algorithm and any VLA backbone.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668000" y="5410200"/>
            <a:ext cx="4826000" cy="1524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22000" y="558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39" name="Text 37"/>
          <p:cNvSpPr/>
          <p:nvPr/>
        </p:nvSpPr>
        <p:spPr>
          <a:xfrm>
            <a:off x="11353800" y="55626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Iterative Improvement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922000" y="5969000"/>
            <a:ext cx="4368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iteration improves both policy and world model alignment.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762000" y="7188200"/>
            <a:ext cx="14732000" cy="13716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42" name="Text 40"/>
          <p:cNvSpPr/>
          <p:nvPr/>
        </p:nvSpPr>
        <p:spPr>
          <a:xfrm>
            <a:off x="1016000" y="7315200"/>
            <a:ext cx="1422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Rollout Budget: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 refers to real trajectories (limited, expensive). The number of imagined trajectories is unlimited (cheap). This is the core source of WMPO's 10-50× sample efficiency improvement.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WMPO: Experimental Results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270000"/>
            <a:ext cx="14732000" cy="635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270000"/>
            <a:ext cx="142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10-50× more sample-efficient than GRPO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5F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| Both ID and OOD generalization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159000"/>
            <a:ext cx="7112000" cy="3556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6000" y="2260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Sample Efficiency: Real Trials vs. Success Rate</a:t>
            </a:r>
            <a:endParaRPr lang="en-US" sz="2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1016000" y="2641600"/>
          <a:ext cx="6604000" cy="292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8128000" y="2159000"/>
            <a:ext cx="7366000" cy="3556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82000" y="22606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Validation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382000" y="27178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&lt;15%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33000" y="2717800"/>
            <a:ext cx="520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model prediction error rate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382000" y="33528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&lt;2%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033000" y="3352800"/>
            <a:ext cx="520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Reward model error rate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382000" y="3987800"/>
            <a:ext cx="6858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8382000" y="40894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Generalization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82000" y="4445000"/>
            <a:ext cx="6858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Both in-distribution and out-of-distribution to novel environments, objects, and task configurations.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62000" y="596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Emergent Behaviors (Unique to WMPO)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62000" y="6426200"/>
            <a:ext cx="7112000" cy="19812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2000" y="6426200"/>
            <a:ext cx="7112000" cy="508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5" name="Shape 22"/>
          <p:cNvSpPr/>
          <p:nvPr/>
        </p:nvSpPr>
        <p:spPr>
          <a:xfrm>
            <a:off x="993775" y="6629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26" name="Text 23"/>
          <p:cNvSpPr/>
          <p:nvPr/>
        </p:nvSpPr>
        <p:spPr>
          <a:xfrm>
            <a:off x="1524000" y="6604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Emergent Self-Correction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016000" y="7035800"/>
            <a:ext cx="66548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policy learns to recover from errors autonomously — a capability not present in imitation learning. Discovered purely through world model-based RL.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8128000" y="6426200"/>
            <a:ext cx="7366000" cy="19812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28000" y="6426200"/>
            <a:ext cx="7366000" cy="508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30" name="Shape 27"/>
          <p:cNvSpPr/>
          <p:nvPr/>
        </p:nvSpPr>
        <p:spPr>
          <a:xfrm>
            <a:off x="8404225" y="6629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31" name="Text 28"/>
          <p:cNvSpPr/>
          <p:nvPr/>
        </p:nvSpPr>
        <p:spPr>
          <a:xfrm>
            <a:off x="8890000" y="660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D5C5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Reduced Trajectory Length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8382000" y="7035800"/>
            <a:ext cx="69088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policy becomes more efficient over training — completing tasks in fewer steps. Emergent efficiency optimization through RL.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The Bridge: Why Embodied AI Needs Blockchain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62000" y="1270000"/>
            <a:ext cx="1473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Embodied AI generates massive interaction data. World models reduce collection costs.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Blockchain ensures the resulting data economy is trustworthy.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2209800"/>
            <a:ext cx="7112000" cy="2794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209800"/>
            <a:ext cx="7112000" cy="508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1" name="Shape 9"/>
          <p:cNvSpPr/>
          <p:nvPr/>
        </p:nvSpPr>
        <p:spPr>
          <a:xfrm>
            <a:off x="1038225" y="2413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23876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Trustworthy Data Provenance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16000" y="2844800"/>
            <a:ext cx="66548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Embodied AI generates massive interaction data requiring trustworthy sharing and provenance tracking. Blockchain provides immutable data lineage for robot training datasets.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28000" y="2209800"/>
            <a:ext cx="7366000" cy="2794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28000" y="2209800"/>
            <a:ext cx="7366000" cy="508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6" name="Shape 14"/>
          <p:cNvSpPr/>
          <p:nvPr/>
        </p:nvSpPr>
        <p:spPr>
          <a:xfrm>
            <a:off x="8337550" y="2413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22250" y="11112"/>
                </a:moveTo>
                <a:cubicBezTo>
                  <a:pt x="262116" y="11112"/>
                  <a:pt x="294481" y="43478"/>
                  <a:pt x="294481" y="83344"/>
                </a:cubicBezTo>
                <a:cubicBezTo>
                  <a:pt x="294481" y="123209"/>
                  <a:pt x="262116" y="155575"/>
                  <a:pt x="222250" y="155575"/>
                </a:cubicBezTo>
                <a:cubicBezTo>
                  <a:pt x="182384" y="155575"/>
                  <a:pt x="150019" y="123209"/>
                  <a:pt x="150019" y="83344"/>
                </a:cubicBezTo>
                <a:cubicBezTo>
                  <a:pt x="150019" y="43478"/>
                  <a:pt x="182384" y="11113"/>
                  <a:pt x="222250" y="11112"/>
                </a:cubicBezTo>
                <a:close/>
                <a:moveTo>
                  <a:pt x="66675" y="61119"/>
                </a:moveTo>
                <a:cubicBezTo>
                  <a:pt x="94274" y="61119"/>
                  <a:pt x="116681" y="83526"/>
                  <a:pt x="116681" y="111125"/>
                </a:cubicBezTo>
                <a:cubicBezTo>
                  <a:pt x="116681" y="138724"/>
                  <a:pt x="94274" y="161131"/>
                  <a:pt x="66675" y="161131"/>
                </a:cubicBezTo>
                <a:cubicBezTo>
                  <a:pt x="39076" y="161131"/>
                  <a:pt x="16669" y="138724"/>
                  <a:pt x="16669" y="111125"/>
                </a:cubicBezTo>
                <a:cubicBezTo>
                  <a:pt x="16669" y="83526"/>
                  <a:pt x="39076" y="61119"/>
                  <a:pt x="66675" y="61119"/>
                </a:cubicBezTo>
                <a:close/>
                <a:moveTo>
                  <a:pt x="0" y="288925"/>
                </a:moveTo>
                <a:cubicBezTo>
                  <a:pt x="0" y="239822"/>
                  <a:pt x="39797" y="200025"/>
                  <a:pt x="88900" y="200025"/>
                </a:cubicBezTo>
                <a:cubicBezTo>
                  <a:pt x="97790" y="200025"/>
                  <a:pt x="106402" y="201345"/>
                  <a:pt x="114528" y="203775"/>
                </a:cubicBezTo>
                <a:cubicBezTo>
                  <a:pt x="91678" y="229334"/>
                  <a:pt x="77788" y="263088"/>
                  <a:pt x="77788" y="300038"/>
                </a:cubicBezTo>
                <a:lnTo>
                  <a:pt x="77788" y="311150"/>
                </a:lnTo>
                <a:cubicBezTo>
                  <a:pt x="77788" y="319068"/>
                  <a:pt x="79454" y="326569"/>
                  <a:pt x="82441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362059" y="333375"/>
                </a:moveTo>
                <a:cubicBezTo>
                  <a:pt x="365046" y="326569"/>
                  <a:pt x="366712" y="319068"/>
                  <a:pt x="366712" y="311150"/>
                </a:cubicBezTo>
                <a:lnTo>
                  <a:pt x="366712" y="300038"/>
                </a:lnTo>
                <a:cubicBezTo>
                  <a:pt x="366712" y="263088"/>
                  <a:pt x="352822" y="229334"/>
                  <a:pt x="329972" y="203775"/>
                </a:cubicBezTo>
                <a:cubicBezTo>
                  <a:pt x="338098" y="201345"/>
                  <a:pt x="346710" y="200025"/>
                  <a:pt x="355600" y="200025"/>
                </a:cubicBezTo>
                <a:cubicBezTo>
                  <a:pt x="404703" y="200025"/>
                  <a:pt x="444500" y="239822"/>
                  <a:pt x="444500" y="288925"/>
                </a:cubicBezTo>
                <a:lnTo>
                  <a:pt x="444500" y="311150"/>
                </a:lnTo>
                <a:cubicBezTo>
                  <a:pt x="444500" y="323443"/>
                  <a:pt x="434568" y="333375"/>
                  <a:pt x="422275" y="333375"/>
                </a:cubicBezTo>
                <a:lnTo>
                  <a:pt x="362059" y="333375"/>
                </a:lnTo>
                <a:close/>
                <a:moveTo>
                  <a:pt x="327819" y="111125"/>
                </a:moveTo>
                <a:cubicBezTo>
                  <a:pt x="327819" y="83526"/>
                  <a:pt x="350226" y="61119"/>
                  <a:pt x="377825" y="61119"/>
                </a:cubicBezTo>
                <a:cubicBezTo>
                  <a:pt x="405424" y="61119"/>
                  <a:pt x="427831" y="83526"/>
                  <a:pt x="427831" y="111125"/>
                </a:cubicBezTo>
                <a:cubicBezTo>
                  <a:pt x="427831" y="138724"/>
                  <a:pt x="405424" y="161131"/>
                  <a:pt x="377825" y="161131"/>
                </a:cubicBezTo>
                <a:cubicBezTo>
                  <a:pt x="350226" y="161131"/>
                  <a:pt x="327819" y="138724"/>
                  <a:pt x="327819" y="111125"/>
                </a:cubicBezTo>
                <a:close/>
                <a:moveTo>
                  <a:pt x="111125" y="300038"/>
                </a:moveTo>
                <a:cubicBezTo>
                  <a:pt x="111125" y="238641"/>
                  <a:pt x="160853" y="188913"/>
                  <a:pt x="222250" y="188913"/>
                </a:cubicBezTo>
                <a:cubicBezTo>
                  <a:pt x="283647" y="188913"/>
                  <a:pt x="333375" y="238641"/>
                  <a:pt x="333375" y="300038"/>
                </a:cubicBezTo>
                <a:lnTo>
                  <a:pt x="333375" y="311150"/>
                </a:lnTo>
                <a:cubicBezTo>
                  <a:pt x="333375" y="323443"/>
                  <a:pt x="323443" y="333375"/>
                  <a:pt x="311150" y="333375"/>
                </a:cubicBezTo>
                <a:lnTo>
                  <a:pt x="133350" y="333375"/>
                </a:lnTo>
                <a:cubicBezTo>
                  <a:pt x="121057" y="333375"/>
                  <a:pt x="111125" y="323443"/>
                  <a:pt x="111125" y="311150"/>
                </a:cubicBezTo>
                <a:lnTo>
                  <a:pt x="111125" y="300038"/>
                </a:ln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2387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Multi-Robot Collaborative Learning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82000" y="2844800"/>
            <a:ext cx="69088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Multi-robot collaborative learning requires incentive-compatible governance. Blockchain enables fair reward distribution and contribution-verified federated model updates.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2000" y="5207000"/>
            <a:ext cx="7112000" cy="2794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000" y="5207000"/>
            <a:ext cx="7112000" cy="50800"/>
          </a:xfrm>
          <a:prstGeom prst="rect">
            <a:avLst/>
          </a:prstGeom>
          <a:solidFill>
            <a:srgbClr val="6B5B9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5410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6B5B95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53848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Auditable Agent Decisions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16000" y="5842000"/>
            <a:ext cx="66548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 decisions need auditable, immutable records for accountability. Blockchain creates tamper-proof logs of autonomous agent actions for compliance and liability tracing.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28000" y="5207000"/>
            <a:ext cx="7366000" cy="2794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8000" y="5207000"/>
            <a:ext cx="7366000" cy="508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6" name="Shape 24"/>
          <p:cNvSpPr/>
          <p:nvPr/>
        </p:nvSpPr>
        <p:spPr>
          <a:xfrm>
            <a:off x="8426450" y="54102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2D1B69"/>
          </a:solidFill>
          <a:ln/>
        </p:spPr>
      </p:sp>
      <p:sp>
        <p:nvSpPr>
          <p:cNvPr id="27" name="Text 25"/>
          <p:cNvSpPr/>
          <p:nvPr/>
        </p:nvSpPr>
        <p:spPr>
          <a:xfrm>
            <a:off x="8890000" y="53848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D1B6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Crypto-Agile Security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82000" y="5842000"/>
            <a:ext cx="69088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Long-term verification requires crypto-agile architecture resistant to quantum threats. Post-quantum cryptography ensures CPSS infrastructure remains secure.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2286000"/>
            <a:ext cx="508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270000" y="3429000"/>
            <a:ext cx="1524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270000" y="3683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Future Outlook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70000" y="4445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Toward unified embodied foundation models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70000" y="5207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trajectory of embodied AI from specialized models to general-purpose embodied intelligence — coupling language, imagination, and action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970000" y="6350000"/>
            <a:ext cx="1016000" cy="1016000"/>
          </a:xfrm>
          <a:prstGeom prst="rect">
            <a:avLst/>
          </a:prstGeom>
          <a:solidFill>
            <a:srgbClr val="C8963E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224000" y="6604000"/>
            <a:ext cx="508000" cy="508000"/>
          </a:xfrm>
          <a:prstGeom prst="rect">
            <a:avLst/>
          </a:prstGeom>
          <a:solidFill>
            <a:srgbClr val="C8963E">
              <a:alpha val="25000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M1 — Embodied AI &amp; World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446000" y="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F5F3E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Song Guo · HKUST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16256000" cy="254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660400"/>
            <a:ext cx="101600" cy="3556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6096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2D1B69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Toward Unified Embodied Foundation Models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62000" y="1346200"/>
            <a:ext cx="4699000" cy="3937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346200"/>
            <a:ext cx="4699000" cy="635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" y="1447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F5F3EE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13462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Cognition &amp; Reasoning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2159000"/>
            <a:ext cx="41910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Multimodal LLMs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provide the cognitive backbone for embodied agents.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Language understanding, visual perception, commonsense reasoning, and task decomposition.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715000" y="1346200"/>
            <a:ext cx="4699000" cy="3937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1346200"/>
            <a:ext cx="4699000" cy="6350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18200" y="1447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F5F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51600" y="13462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&amp; Imagination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9000" y="2159000"/>
            <a:ext cx="41910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World Models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(IRASim) enable predictive simulation for planning and learning.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Action-conditioned video generation, long-horizon prediction, and closed-loop policy evaluation.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668000" y="1346200"/>
            <a:ext cx="4826000" cy="39370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68000" y="1346200"/>
            <a:ext cx="4826000" cy="635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22000" y="14478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F5F3EE"/>
          </a:solidFill>
          <a:ln/>
        </p:spPr>
      </p:sp>
      <p:sp>
        <p:nvSpPr>
          <p:cNvPr id="21" name="Text 19"/>
          <p:cNvSpPr/>
          <p:nvPr/>
        </p:nvSpPr>
        <p:spPr>
          <a:xfrm>
            <a:off x="11404600" y="1346200"/>
            <a:ext cx="393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&amp; Execution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22000" y="2159000"/>
            <a:ext cx="43688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Execution Policies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(VLA models) transform decisions into physical robot actions.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Vision-language-action integration, fine-grained motor control, and real-time adaptation.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62000" y="5537200"/>
            <a:ext cx="14732000" cy="1524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5638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Architecture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60452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unified embodied foundation model couples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(understanding),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(prediction),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(execution) into a single trainable architecture. Three pillars become one system.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315200"/>
            <a:ext cx="14732000" cy="1168400"/>
          </a:xfrm>
          <a:prstGeom prst="rect">
            <a:avLst/>
          </a:prstGeom>
          <a:solidFill>
            <a:srgbClr val="EDEAE3"/>
          </a:solidFill>
          <a:ln w="12700">
            <a:solidFill>
              <a:srgbClr val="D1CFC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" y="7315200"/>
            <a:ext cx="50800" cy="1168400"/>
          </a:xfrm>
          <a:prstGeom prst="rect">
            <a:avLst/>
          </a:prstGeom>
          <a:solidFill>
            <a:srgbClr val="0D5C5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6000" y="7569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0D5C5E"/>
          </a:solidFill>
          <a:ln/>
        </p:spPr>
      </p:sp>
      <p:sp>
        <p:nvSpPr>
          <p:cNvPr id="29" name="Text 27"/>
          <p:cNvSpPr/>
          <p:nvPr/>
        </p:nvSpPr>
        <p:spPr>
          <a:xfrm>
            <a:off x="1524000" y="7416800"/>
            <a:ext cx="13716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Beyond 2D Image Understanding: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Spatial intelligence requires 3D world understanding for truly general robotics. The next frontier is embodied agents that perceive, reason, and act in 3D space.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0" y="8763000"/>
            <a:ext cx="16256000" cy="0"/>
          </a:xfrm>
          <a:prstGeom prst="straightConnector1">
            <a:avLst/>
          </a:prstGeom>
          <a:noFill/>
          <a:ln w="12700">
            <a:solidFill>
              <a:srgbClr val="D1CFC8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5240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762000"/>
            <a:ext cx="254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4318000" y="1016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ICBC 2026 TUTORIAL — QBE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1651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M1 Summary &amp; Transition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0" y="2540000"/>
            <a:ext cx="254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778000" y="28448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Embodied AI generates massive interaction data requiring trustworthy infrastructure. World models reduce costs — the resulting data must be shared via trustworthy, quantum-secure blockchain.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191000"/>
            <a:ext cx="4699000" cy="1651000"/>
          </a:xfrm>
          <a:prstGeom prst="rect">
            <a:avLst/>
          </a:prstGeom>
          <a:solidFill>
            <a:srgbClr val="2D1B69">
              <a:alpha val="25098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000" y="4292600"/>
            <a:ext cx="6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4724400"/>
            <a:ext cx="436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World Models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(IRASim, WMPO) enable scalable robot learning through imagination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4191000"/>
            <a:ext cx="4699000" cy="1651000"/>
          </a:xfrm>
          <a:prstGeom prst="rect">
            <a:avLst/>
          </a:prstGeom>
          <a:solidFill>
            <a:srgbClr val="2D1B69">
              <a:alpha val="25098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42000" y="4292600"/>
            <a:ext cx="6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2000" y="4724400"/>
            <a:ext cx="4368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Trustworthy Infrastructure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essential for embodied AI data economy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4191000"/>
            <a:ext cx="4826000" cy="1651000"/>
          </a:xfrm>
          <a:prstGeom prst="rect">
            <a:avLst/>
          </a:prstGeom>
          <a:solidFill>
            <a:srgbClr val="2D1B69">
              <a:alpha val="25098"/>
            </a:srgbClr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95000" y="4292600"/>
            <a:ext cx="63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8963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0" y="4724400"/>
            <a:ext cx="4495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Foundation Models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5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coupling language, imagination, and action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18000" y="6223000"/>
            <a:ext cx="7620000" cy="0"/>
          </a:xfrm>
          <a:prstGeom prst="straightConnector1">
            <a:avLst/>
          </a:prstGeom>
          <a:noFill/>
          <a:ln w="12700">
            <a:solidFill>
              <a:srgbClr val="4A556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4318000" y="6477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MODULE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69596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5F3E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M2 — Quantum Hardware Threat Assessment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18000" y="75692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Aoyu Zhang (AWS)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255000"/>
            <a:ext cx="147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References: [3] Zhu et al. ICCV 2025, [4] Mon-Williams et al. Nature MI 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M1: Embodied AI &amp; World Models — IEEE ICBC 2026 QBE Tutorial</dc:title>
  <dc:subject>M1: Embodied AI &amp; World Models — IEEE ICBC 2026 QBE Tutorial</dc:subject>
  <dc:creator>Kimi</dc:creator>
  <cp:lastModifiedBy>Kimi</cp:lastModifiedBy>
  <cp:revision>1</cp:revision>
  <dcterms:created xsi:type="dcterms:W3CDTF">2026-05-29T12:12:24Z</dcterms:created>
  <dcterms:modified xsi:type="dcterms:W3CDTF">2026-05-29T12:12:24Z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{"Label":"M1: Embodied AI &amp; World Models — IEEE ICBC 2026 QBE Tutorial","ContentProducer":"001191110108MACG2KBH8F10000","ProduceID":"19e73a07-0f02-8f1b-8000-0000799e4460","ReservedCode1":"","ContentPropagator":"001191110108MACG2KBH8F20000","PropagateID":"19e73a07-0f02-8f1b-8000-0000799e4460","ReservedCode2":""}</vt:lpwstr>
  </property>
</Properties>
</file>